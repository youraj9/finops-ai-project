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ukta Light" panose="020B0604020202020204" charset="0"/>
      <p:regular r:id="rId17"/>
    </p:embeddedFont>
    <p:embeddedFont>
      <p:font typeface="Prompt Medium" panose="00000600000000000000" pitchFamily="2" charset="-3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108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2" y="1069062"/>
            <a:ext cx="7381875" cy="244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FinOps – Automated Intelligent Document Processing System for Financial Operation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67462" y="3847386"/>
            <a:ext cx="73818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i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Amount Payable Automation through AI-Powered Invoice Processing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67462" y="4447580"/>
            <a:ext cx="3580805" cy="1246346"/>
          </a:xfrm>
          <a:prstGeom prst="roundRect">
            <a:avLst>
              <a:gd name="adj" fmla="val 742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95348" y="4675465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Name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95348" y="5113615"/>
            <a:ext cx="312503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Youraj Rana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168533" y="4447580"/>
            <a:ext cx="3580805" cy="1246346"/>
          </a:xfrm>
          <a:prstGeom prst="roundRect">
            <a:avLst>
              <a:gd name="adj" fmla="val 742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96418" y="4675465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Class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396418" y="5113615"/>
            <a:ext cx="312503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MCA – 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367461" y="5914192"/>
            <a:ext cx="7381875" cy="1246346"/>
          </a:xfrm>
          <a:prstGeom prst="roundRect">
            <a:avLst>
              <a:gd name="adj" fmla="val 742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95348" y="6142077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Roll No.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595348" y="6580227"/>
            <a:ext cx="692610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2202452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887373"/>
            <a:ext cx="3671530" cy="458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Introduction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881063" y="1532215"/>
            <a:ext cx="7381875" cy="69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 today's digital world, many organizations still rely on traditional, manual methods for their Accounts Payable (AP) processes. Employees spend hours entering invoice data by hand — a practice that creates serious operational and financial risks.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81063" y="2365534"/>
            <a:ext cx="7381875" cy="911066"/>
          </a:xfrm>
          <a:prstGeom prst="roundRect">
            <a:avLst>
              <a:gd name="adj" fmla="val 12044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8203" y="2365534"/>
            <a:ext cx="91440" cy="911066"/>
          </a:xfrm>
          <a:prstGeom prst="roundRect">
            <a:avLst>
              <a:gd name="adj" fmla="val 75889"/>
            </a:avLst>
          </a:prstGeom>
          <a:solidFill>
            <a:srgbClr val="A95B95"/>
          </a:solidFill>
          <a:ln/>
        </p:spPr>
      </p:sp>
      <p:sp>
        <p:nvSpPr>
          <p:cNvPr id="7" name="Text 4"/>
          <p:cNvSpPr/>
          <p:nvPr/>
        </p:nvSpPr>
        <p:spPr>
          <a:xfrm>
            <a:off x="1137642" y="2553533"/>
            <a:ext cx="2372797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🐢</a:t>
            </a: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Slow &amp; Labor-Intensive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37642" y="2857262"/>
            <a:ext cx="6937296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Heavy reliance on manual data entry makes the process slow, repetitive, and exhausting for staff.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81063" y="3400425"/>
            <a:ext cx="7381875" cy="911066"/>
          </a:xfrm>
          <a:prstGeom prst="roundRect">
            <a:avLst>
              <a:gd name="adj" fmla="val 12044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8203" y="3400425"/>
            <a:ext cx="91440" cy="911066"/>
          </a:xfrm>
          <a:prstGeom prst="roundRect">
            <a:avLst>
              <a:gd name="adj" fmla="val 75889"/>
            </a:avLst>
          </a:prstGeom>
          <a:solidFill>
            <a:srgbClr val="A95B95"/>
          </a:solidFill>
          <a:ln/>
        </p:spPr>
      </p:sp>
      <p:sp>
        <p:nvSpPr>
          <p:cNvPr id="11" name="Text 8"/>
          <p:cNvSpPr/>
          <p:nvPr/>
        </p:nvSpPr>
        <p:spPr>
          <a:xfrm>
            <a:off x="1137642" y="3588425"/>
            <a:ext cx="1835706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⚠️</a:t>
            </a: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Error-Prone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37642" y="3892153"/>
            <a:ext cx="6937296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Typing mistakes, miscalculations, and incorrect entries are frequent, leading to financial discrepancies.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81063" y="4435316"/>
            <a:ext cx="7381875" cy="911066"/>
          </a:xfrm>
          <a:prstGeom prst="roundRect">
            <a:avLst>
              <a:gd name="adj" fmla="val 12044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8203" y="4435316"/>
            <a:ext cx="91440" cy="911066"/>
          </a:xfrm>
          <a:prstGeom prst="roundRect">
            <a:avLst>
              <a:gd name="adj" fmla="val 75889"/>
            </a:avLst>
          </a:prstGeom>
          <a:solidFill>
            <a:srgbClr val="A95B95"/>
          </a:solidFill>
          <a:ln/>
        </p:spPr>
      </p:sp>
      <p:sp>
        <p:nvSpPr>
          <p:cNvPr id="15" name="Text 12"/>
          <p:cNvSpPr/>
          <p:nvPr/>
        </p:nvSpPr>
        <p:spPr>
          <a:xfrm>
            <a:off x="1137642" y="4623316"/>
            <a:ext cx="1974890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🔓</a:t>
            </a: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Fraud Vulnerability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37642" y="4927044"/>
            <a:ext cx="6937296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Without automated checks, duplicate invoices can be paid more than once, enabling fraud.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81063" y="5470208"/>
            <a:ext cx="7381875" cy="911066"/>
          </a:xfrm>
          <a:prstGeom prst="roundRect">
            <a:avLst>
              <a:gd name="adj" fmla="val 12044"/>
            </a:avLst>
          </a:prstGeom>
          <a:solidFill>
            <a:srgbClr val="0B0C23">
              <a:alpha val="95000"/>
            </a:srgbClr>
          </a:solidFill>
          <a:ln w="22860">
            <a:solidFill>
              <a:srgbClr val="6D456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8203" y="5470208"/>
            <a:ext cx="91440" cy="911066"/>
          </a:xfrm>
          <a:prstGeom prst="roundRect">
            <a:avLst>
              <a:gd name="adj" fmla="val 75889"/>
            </a:avLst>
          </a:prstGeom>
          <a:solidFill>
            <a:srgbClr val="A95B95"/>
          </a:solidFill>
          <a:ln/>
        </p:spPr>
      </p:sp>
      <p:sp>
        <p:nvSpPr>
          <p:cNvPr id="19" name="Text 16"/>
          <p:cNvSpPr/>
          <p:nvPr/>
        </p:nvSpPr>
        <p:spPr>
          <a:xfrm>
            <a:off x="1137642" y="5658207"/>
            <a:ext cx="1835706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📧</a:t>
            </a: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Dispute Delays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37642" y="5961936"/>
            <a:ext cx="6937296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Resolving vendor disputes requires manual communication and checking, consuming valuable time.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81063" y="6520577"/>
            <a:ext cx="7381875" cy="821650"/>
          </a:xfrm>
          <a:prstGeom prst="roundRect">
            <a:avLst>
              <a:gd name="adj" fmla="val 8446"/>
            </a:avLst>
          </a:prstGeom>
          <a:solidFill>
            <a:srgbClr val="4B3F02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02" y="6742390"/>
            <a:ext cx="206454" cy="1651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17796" y="6685598"/>
            <a:ext cx="6680002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These issues result in financial losses, reduced efficiency, and unnecessary workload — making an intelligent, automated system essential.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635556"/>
            <a:ext cx="9972913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Existing System: Challenges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81063" y="1688068"/>
            <a:ext cx="12868275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current Accounts Payable system faces serious challenges due to its dependence on manual processes. Employees spend a significant amount of time entering invoice details manually, which slows down operations and increases fatigue. As a result, human errors such as incorrect data entry and miscalculations are very common.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2471" y="2993112"/>
            <a:ext cx="6482596" cy="4600813"/>
          </a:xfrm>
          <a:prstGeom prst="roundRect">
            <a:avLst>
              <a:gd name="adj" fmla="val 3447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42737" y="321337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Problems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42737" y="3739634"/>
            <a:ext cx="6042065" cy="2499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Manual invoice data entry causes operational delays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Human errors in calculations are frequent and costly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automated duplicate invoice detection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Fraudulent or repeated payments go undetected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Vendor dispute resolution is slow and manual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Lack of centralized financial oversight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1544" y="321337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Business Impact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91544" y="3739634"/>
            <a:ext cx="6165413" cy="207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Increased operational costs due to rework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Delayed payment cycles strain vendor relationships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Financial risk from undetected duplicate payments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Reduced staff productivity on high-value tasks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audit trail for accountability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91544" y="6057662"/>
            <a:ext cx="6165413" cy="1288494"/>
          </a:xfrm>
          <a:prstGeom prst="roundRect">
            <a:avLst>
              <a:gd name="adj" fmla="val 7181"/>
            </a:avLst>
          </a:prstGeom>
          <a:solidFill>
            <a:srgbClr val="321A2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810" y="6384012"/>
            <a:ext cx="275273" cy="2202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07348" y="6332934"/>
            <a:ext cx="522934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outdated system reduces efficiency and increases financial risk for organizations.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7370" y="644843"/>
            <a:ext cx="4032409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Proposed Solution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67370" y="1276707"/>
            <a:ext cx="7409259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 overcome these challenges, the proposed system introduces a </a:t>
            </a:r>
            <a:r>
              <a:rPr lang="en-US" sz="12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smart, fully automated solution</a:t>
            </a: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handling financial operations — replacing manual effort with intelligent automation at every step.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370" y="1863923"/>
            <a:ext cx="406598" cy="4065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7370" y="2420541"/>
            <a:ext cx="2111097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Simple Upload Interface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67370" y="2718435"/>
            <a:ext cx="7409259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user-friendly interface allows operators to upload invoices (PNG, JPG, PDF) without any specialized training.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370" y="3184565"/>
            <a:ext cx="406598" cy="4065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7370" y="3741182"/>
            <a:ext cx="2095619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MD5 Duplicate Blocking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67370" y="4039076"/>
            <a:ext cx="7409259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Every uploaded file is hashed using an MD5 algorithm, instantly identifying and blocking duplicate invoices before processing.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7370" y="4731306"/>
            <a:ext cx="406598" cy="4065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7370" y="5287923"/>
            <a:ext cx="2423160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AI-Powered Data Extraction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867370" y="5585817"/>
            <a:ext cx="7409259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Google Gemini AI automatically reads and extracts vendor details, currency, and totals — even from unstructured invoices.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7370" y="6278047"/>
            <a:ext cx="406598" cy="4065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7370" y="6834664"/>
            <a:ext cx="1807012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Automated Auditing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867370" y="7132558"/>
            <a:ext cx="7409259" cy="45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 automated auditing system verifies calculations and ensures compliance with company policies, reducing errors and improving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116925"/>
            <a:ext cx="8554879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Scope: FinOps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81063" y="2169438"/>
            <a:ext cx="128682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scope of this project is to create an </a:t>
            </a: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end-to-end intelligent financial operations ecosystem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that automates invoice processing, auditing, and multi-currency accounting.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81063" y="3452455"/>
            <a:ext cx="6324005" cy="3660100"/>
          </a:xfrm>
          <a:prstGeom prst="roundRect">
            <a:avLst>
              <a:gd name="adj" fmla="val 399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1063" y="3421975"/>
            <a:ext cx="6324005" cy="121920"/>
          </a:xfrm>
          <a:prstGeom prst="roundRect">
            <a:avLst>
              <a:gd name="adj" fmla="val 75889"/>
            </a:avLst>
          </a:prstGeom>
          <a:solidFill>
            <a:srgbClr val="A95B95"/>
          </a:solidFill>
          <a:ln/>
        </p:spPr>
      </p:sp>
      <p:sp>
        <p:nvSpPr>
          <p:cNvPr id="6" name="Shape 4"/>
          <p:cNvSpPr/>
          <p:nvPr/>
        </p:nvSpPr>
        <p:spPr>
          <a:xfrm>
            <a:off x="3712607" y="3122057"/>
            <a:ext cx="660797" cy="660797"/>
          </a:xfrm>
          <a:prstGeom prst="roundRect">
            <a:avLst>
              <a:gd name="adj" fmla="val 138378"/>
            </a:avLst>
          </a:prstGeom>
          <a:solidFill>
            <a:srgbClr val="A95B95"/>
          </a:solidFill>
          <a:ln/>
        </p:spPr>
      </p:sp>
      <p:sp>
        <p:nvSpPr>
          <p:cNvPr id="7" name="Text 5"/>
          <p:cNvSpPr/>
          <p:nvPr/>
        </p:nvSpPr>
        <p:spPr>
          <a:xfrm>
            <a:off x="1131808" y="4003119"/>
            <a:ext cx="5822513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Automated Invoice Processing — "The Gatekeeper"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31808" y="4747260"/>
            <a:ext cx="5822513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Goal: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Remove manual data entry from the financial pipeline.</a:t>
            </a:r>
            <a:endParaRPr lang="en-US" sz="1700" dirty="0"/>
          </a:p>
          <a:p>
            <a:pPr marL="0" indent="0" algn="ctr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Functionality: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Operators upload invoices (PNG/JPG/PDF), and the system uses Google Gemini AI to extract vendor details, currency, and totals.</a:t>
            </a:r>
            <a:endParaRPr lang="en-US" sz="1700" dirty="0"/>
          </a:p>
          <a:p>
            <a:pPr marL="0" indent="0" algn="ctr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Duplicate Prevention: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Every file is hashed using an MD5 algorithm to ensure the same invoice cannot be processed 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25333" y="3452455"/>
            <a:ext cx="6324005" cy="3660100"/>
          </a:xfrm>
          <a:prstGeom prst="roundRect">
            <a:avLst>
              <a:gd name="adj" fmla="val 399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25333" y="3421975"/>
            <a:ext cx="6324005" cy="121920"/>
          </a:xfrm>
          <a:prstGeom prst="roundRect">
            <a:avLst>
              <a:gd name="adj" fmla="val 75889"/>
            </a:avLst>
          </a:prstGeom>
          <a:solidFill>
            <a:srgbClr val="A95B95"/>
          </a:solidFill>
          <a:ln/>
        </p:spPr>
      </p:sp>
      <p:sp>
        <p:nvSpPr>
          <p:cNvPr id="11" name="Shape 9"/>
          <p:cNvSpPr/>
          <p:nvPr/>
        </p:nvSpPr>
        <p:spPr>
          <a:xfrm>
            <a:off x="10256877" y="3122057"/>
            <a:ext cx="660797" cy="660797"/>
          </a:xfrm>
          <a:prstGeom prst="roundRect">
            <a:avLst>
              <a:gd name="adj" fmla="val 138378"/>
            </a:avLst>
          </a:prstGeom>
          <a:solidFill>
            <a:srgbClr val="A95B95"/>
          </a:solidFill>
          <a:ln/>
        </p:spPr>
      </p:sp>
      <p:sp>
        <p:nvSpPr>
          <p:cNvPr id="12" name="Text 10"/>
          <p:cNvSpPr/>
          <p:nvPr/>
        </p:nvSpPr>
        <p:spPr>
          <a:xfrm>
            <a:off x="8875871" y="4003119"/>
            <a:ext cx="3422809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Intelligent Financial Auditing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76078" y="4441269"/>
            <a:ext cx="582251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Goal: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Reduce human error in accounting.</a:t>
            </a:r>
            <a:endParaRPr lang="en-US" sz="1700" dirty="0"/>
          </a:p>
          <a:p>
            <a:pPr marL="0" indent="0" algn="ctr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Functionality: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The system performs an automated math audit, comparing Subtotal + Tax against the Grand Total to detect discrepancies before approval.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865584"/>
            <a:ext cx="11548467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Scope: FinOps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81063" y="1918097"/>
            <a:ext cx="4142542" cy="5445919"/>
          </a:xfrm>
          <a:prstGeom prst="roundRect">
            <a:avLst>
              <a:gd name="adj" fmla="val 2233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1543" y="1948577"/>
            <a:ext cx="4081582" cy="660797"/>
          </a:xfrm>
          <a:prstGeom prst="roundRect">
            <a:avLst>
              <a:gd name="adj" fmla="val 8467"/>
            </a:avLst>
          </a:prstGeom>
          <a:solidFill>
            <a:srgbClr val="542C49"/>
          </a:solidFill>
          <a:ln/>
        </p:spPr>
      </p:sp>
      <p:sp>
        <p:nvSpPr>
          <p:cNvPr id="5" name="Text 3"/>
          <p:cNvSpPr/>
          <p:nvPr/>
        </p:nvSpPr>
        <p:spPr>
          <a:xfrm>
            <a:off x="1131808" y="2829639"/>
            <a:ext cx="3641050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Multi-Currency Synchronization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1808" y="3573780"/>
            <a:ext cx="3641050" cy="3539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Goal: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Centralized reporting for global operations.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Functionality: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Supports dynamic conversion for international currencies (JPY, CNY, USD, GBP) into a unified base currency (INR).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Integrity: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Converted values are stored in a dedicated </a:t>
            </a:r>
            <a:r>
              <a:rPr lang="en-US" sz="17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amount_inr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column to maintain a fixed historical record, preventing ledger discrepancies.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43870" y="1918097"/>
            <a:ext cx="4142542" cy="5445919"/>
          </a:xfrm>
          <a:prstGeom prst="roundRect">
            <a:avLst>
              <a:gd name="adj" fmla="val 2233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74350" y="1948577"/>
            <a:ext cx="4081582" cy="660797"/>
          </a:xfrm>
          <a:prstGeom prst="roundRect">
            <a:avLst>
              <a:gd name="adj" fmla="val 8467"/>
            </a:avLst>
          </a:prstGeom>
          <a:solidFill>
            <a:srgbClr val="542C49"/>
          </a:solidFill>
          <a:ln/>
        </p:spPr>
      </p:sp>
      <p:sp>
        <p:nvSpPr>
          <p:cNvPr id="9" name="Text 7"/>
          <p:cNvSpPr/>
          <p:nvPr/>
        </p:nvSpPr>
        <p:spPr>
          <a:xfrm>
            <a:off x="5494615" y="2829639"/>
            <a:ext cx="3641050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Dispute Resolution &amp; Communication Hub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94615" y="3573780"/>
            <a:ext cx="364105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Goal: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Professionalize vendor relations.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Functionality: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Automates dispute emails for flagged invoices. If no email exists, it redirects the operator to a manual follow-up module in the Communication Hub.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06677" y="1918097"/>
            <a:ext cx="4142542" cy="5445919"/>
          </a:xfrm>
          <a:prstGeom prst="roundRect">
            <a:avLst>
              <a:gd name="adj" fmla="val 2233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157" y="1948577"/>
            <a:ext cx="4081582" cy="660797"/>
          </a:xfrm>
          <a:prstGeom prst="roundRect">
            <a:avLst>
              <a:gd name="adj" fmla="val 8467"/>
            </a:avLst>
          </a:prstGeom>
          <a:solidFill>
            <a:srgbClr val="542C49"/>
          </a:solidFill>
          <a:ln/>
        </p:spPr>
      </p:sp>
      <p:sp>
        <p:nvSpPr>
          <p:cNvPr id="13" name="Text 11"/>
          <p:cNvSpPr/>
          <p:nvPr/>
        </p:nvSpPr>
        <p:spPr>
          <a:xfrm>
            <a:off x="9857423" y="2829639"/>
            <a:ext cx="3641050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Administrative Oversight &amp; Security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57423" y="3573780"/>
            <a:ext cx="3641050" cy="246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Goal: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Ensure full visibility and system accountability.</a:t>
            </a:r>
            <a:endParaRPr lang="en-US" sz="17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Functionality: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Provides an Admin-only Dashboard for master ledger viewing, financial analytics, and a comprehensive Security Audit Log that records all system actions.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823079"/>
            <a:ext cx="4405789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Technology Stack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881063" y="1730573"/>
            <a:ext cx="1286827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is built using modern, efficient, and industry-proven technologies — ensuring reliability, scalability, and ease of deployment.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38307" y="2232541"/>
            <a:ext cx="6477833" cy="5173980"/>
          </a:xfrm>
          <a:prstGeom prst="roundRect">
            <a:avLst>
              <a:gd name="adj" fmla="val 2759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36546" y="2410897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Core Technologies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841" y="2892981"/>
            <a:ext cx="297299" cy="297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0793" y="288690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80793" y="3340537"/>
            <a:ext cx="2284928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Frontend framework providing a simple, interactive, and responsive user interface for invoice uploads and dashboards.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3020" y="2892981"/>
            <a:ext cx="297299" cy="2972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32973" y="288690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Python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732973" y="3340537"/>
            <a:ext cx="2284928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Backend engine handling all business logic, data processing, AI integration, and workflow automation.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841" y="5209580"/>
            <a:ext cx="297299" cy="2972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80793" y="520350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Google Gemini API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80793" y="5657136"/>
            <a:ext cx="5437108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AI-powered data extraction engine that reads unstructured invoices and extracts key financial fields accurately.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564636" y="2410897"/>
            <a:ext cx="351996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Supporting Libraries &amp; Database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7564636" y="2886908"/>
            <a:ext cx="3006923" cy="2070259"/>
          </a:xfrm>
          <a:prstGeom prst="roundRect">
            <a:avLst>
              <a:gd name="adj" fmla="val 402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0495" y="309276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MySQL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770495" y="3546396"/>
            <a:ext cx="2595205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Structured relational database for storing invoice records, audit logs, and financial data with integrity.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10749915" y="2886908"/>
            <a:ext cx="3007043" cy="2070259"/>
          </a:xfrm>
          <a:prstGeom prst="roundRect">
            <a:avLst>
              <a:gd name="adj" fmla="val 402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955774" y="3092768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hashlib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0955774" y="3546396"/>
            <a:ext cx="2595324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Implements MD5 hashing for duplicate invoice detection and file integrity verification.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7564636" y="5135523"/>
            <a:ext cx="3006923" cy="2070259"/>
          </a:xfrm>
          <a:prstGeom prst="roundRect">
            <a:avLst>
              <a:gd name="adj" fmla="val 402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770495" y="5341382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smtplib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7770495" y="5795010"/>
            <a:ext cx="2595205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Handles automated email dispatch for dispute notifications and vendor communication.</a:t>
            </a:r>
            <a:endParaRPr lang="en-US" sz="1550" dirty="0"/>
          </a:p>
        </p:txBody>
      </p:sp>
      <p:sp>
        <p:nvSpPr>
          <p:cNvPr id="25" name="Shape 20"/>
          <p:cNvSpPr/>
          <p:nvPr/>
        </p:nvSpPr>
        <p:spPr>
          <a:xfrm>
            <a:off x="10749915" y="5135523"/>
            <a:ext cx="3007043" cy="2070259"/>
          </a:xfrm>
          <a:prstGeom prst="roundRect">
            <a:avLst>
              <a:gd name="adj" fmla="val 402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0955774" y="5341382"/>
            <a:ext cx="220289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pandas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10955774" y="5795010"/>
            <a:ext cx="2595324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Manages data transformation, currency conversion, and financial reporting tasks.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7370" y="652582"/>
            <a:ext cx="6354604" cy="6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Limitations &amp; Future Scope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67370" y="1788319"/>
            <a:ext cx="262747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⚠️</a:t>
            </a: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Current Limitations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67370" y="2329577"/>
            <a:ext cx="6183273" cy="1526858"/>
          </a:xfrm>
          <a:prstGeom prst="roundRect">
            <a:avLst>
              <a:gd name="adj" fmla="val 9582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890" y="2329577"/>
            <a:ext cx="121920" cy="1526858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6" name="Text 4"/>
          <p:cNvSpPr/>
          <p:nvPr/>
        </p:nvSpPr>
        <p:spPr>
          <a:xfrm>
            <a:off x="1206103" y="2576870"/>
            <a:ext cx="5597247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Internet Dependency: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Requires a stable internet connection to access cloud-based Google Gemini AI services for data extraction.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7370" y="4069794"/>
            <a:ext cx="6183273" cy="1526858"/>
          </a:xfrm>
          <a:prstGeom prst="roundRect">
            <a:avLst>
              <a:gd name="adj" fmla="val 9582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890" y="4069794"/>
            <a:ext cx="121920" cy="1526858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9" name="Text 7"/>
          <p:cNvSpPr/>
          <p:nvPr/>
        </p:nvSpPr>
        <p:spPr>
          <a:xfrm>
            <a:off x="1206103" y="4317087"/>
            <a:ext cx="5597247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File Quality Sensitivity: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System accuracy depends on the quality and clarity of uploaded invoice files — blurry or poorly scanned documents may reduce extraction precision.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7370" y="5810012"/>
            <a:ext cx="6183273" cy="1526858"/>
          </a:xfrm>
          <a:prstGeom prst="roundRect">
            <a:avLst>
              <a:gd name="adj" fmla="val 9582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890" y="5810012"/>
            <a:ext cx="121920" cy="1526858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12" name="Text 10"/>
          <p:cNvSpPr/>
          <p:nvPr/>
        </p:nvSpPr>
        <p:spPr>
          <a:xfrm>
            <a:off x="1206103" y="6057305"/>
            <a:ext cx="5597247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 Direct Payment Integration: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The current system processes and audits invoices but does not yet connect to banking or payment gateways for automated disbursement.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7377" y="1788319"/>
            <a:ext cx="291262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🚀</a:t>
            </a: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Future Enhancements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7587377" y="2329577"/>
            <a:ext cx="487918" cy="487918"/>
          </a:xfrm>
          <a:prstGeom prst="roundRect">
            <a:avLst>
              <a:gd name="adj" fmla="val 18667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6794" y="2392859"/>
            <a:ext cx="289084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288655" y="2404110"/>
            <a:ext cx="2256949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Banking &amp; Payment Gateway Integration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288655" y="3521154"/>
            <a:ext cx="2256949" cy="172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Enable direct payment processing and automated fund transfers upon invoice approval.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812423" y="2329577"/>
            <a:ext cx="487918" cy="487918"/>
          </a:xfrm>
          <a:prstGeom prst="roundRect">
            <a:avLst>
              <a:gd name="adj" fmla="val 18667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11840" y="2392859"/>
            <a:ext cx="289084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513701" y="2404110"/>
            <a:ext cx="2256949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ML-Based Financial Forecasting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1513701" y="3219926"/>
            <a:ext cx="2256949" cy="172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Integrate machine learning models for predictive budgeting, cash flow analysis, and expense forecasting.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587377" y="5668447"/>
            <a:ext cx="487918" cy="487918"/>
          </a:xfrm>
          <a:prstGeom prst="roundRect">
            <a:avLst>
              <a:gd name="adj" fmla="val 18667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6794" y="5731728"/>
            <a:ext cx="289084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8288655" y="5742980"/>
            <a:ext cx="24094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Mobile Application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8288655" y="6257568"/>
            <a:ext cx="5481995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Develop a smartphone app for on-the-go receipt scanning, invoice uploads, and real-time approval notifications.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877610"/>
            <a:ext cx="3916323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881063" y="1578531"/>
            <a:ext cx="7614755" cy="76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9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</a:t>
            </a: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he proposed </a:t>
            </a:r>
            <a:r>
              <a:rPr lang="en-US" b="1" dirty="0">
                <a:solidFill>
                  <a:srgbClr val="DAD8E9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FinOps AI </a:t>
            </a:r>
            <a:r>
              <a:rPr lang="en-US" dirty="0">
                <a:solidFill>
                  <a:srgbClr val="DAD8E9"/>
                </a:solidFill>
                <a:latin typeface="Times New Roman" panose="02020603050405020304" pitchFamily="18" charset="0"/>
                <a:ea typeface="Mukta Light" pitchFamily="34" charset="-122"/>
                <a:cs typeface="Times New Roman" panose="02020603050405020304" pitchFamily="18" charset="0"/>
              </a:rPr>
              <a:t>system delivers an efficient, intelligent, and secure solution to modernize financial operations — directly addressing the critical weaknesses of traditional Accounts Payable processes.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81063" y="2498288"/>
            <a:ext cx="7381875" cy="3787616"/>
          </a:xfrm>
          <a:prstGeom prst="roundRect">
            <a:avLst>
              <a:gd name="adj" fmla="val 195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88683" y="2505908"/>
            <a:ext cx="7366635" cy="943094"/>
          </a:xfrm>
          <a:prstGeom prst="roundRect">
            <a:avLst>
              <a:gd name="adj" fmla="val 7849"/>
            </a:avLst>
          </a:prstGeom>
          <a:solidFill>
            <a:srgbClr val="542C49"/>
          </a:solidFill>
          <a:ln/>
        </p:spPr>
      </p:sp>
      <p:sp>
        <p:nvSpPr>
          <p:cNvPr id="7" name="Text 4"/>
          <p:cNvSpPr/>
          <p:nvPr/>
        </p:nvSpPr>
        <p:spPr>
          <a:xfrm>
            <a:off x="1064895" y="2682121"/>
            <a:ext cx="257782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✅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Eliminates Manual Entry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64895" y="3019068"/>
            <a:ext cx="701421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AI-powered extraction replaces tedious, error-prone hand-typing of invoice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88683" y="3449003"/>
            <a:ext cx="7366635" cy="943094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0" name="Shape 7"/>
          <p:cNvSpPr/>
          <p:nvPr/>
        </p:nvSpPr>
        <p:spPr>
          <a:xfrm>
            <a:off x="888683" y="3449003"/>
            <a:ext cx="7366635" cy="22860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</p:sp>
      <p:sp>
        <p:nvSpPr>
          <p:cNvPr id="11" name="Text 8"/>
          <p:cNvSpPr/>
          <p:nvPr/>
        </p:nvSpPr>
        <p:spPr>
          <a:xfrm>
            <a:off x="1064895" y="3625215"/>
            <a:ext cx="19581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🔒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Prevents Fraud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4895" y="3962162"/>
            <a:ext cx="701421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MD5 hashing and automated auditing block duplicate payments and calculation errors.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88683" y="4392097"/>
            <a:ext cx="7366635" cy="943094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4" name="Shape 11"/>
          <p:cNvSpPr/>
          <p:nvPr/>
        </p:nvSpPr>
        <p:spPr>
          <a:xfrm>
            <a:off x="888683" y="4392097"/>
            <a:ext cx="7366635" cy="22860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</p:sp>
      <p:sp>
        <p:nvSpPr>
          <p:cNvPr id="15" name="Text 12"/>
          <p:cNvSpPr/>
          <p:nvPr/>
        </p:nvSpPr>
        <p:spPr>
          <a:xfrm>
            <a:off x="1064895" y="4568309"/>
            <a:ext cx="2176701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⚡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Boosts Productivity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64895" y="4905256"/>
            <a:ext cx="701421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Automation frees employees to focus on strategic, high-value financial work.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88683" y="5335191"/>
            <a:ext cx="7366635" cy="943094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8" name="Shape 15"/>
          <p:cNvSpPr/>
          <p:nvPr/>
        </p:nvSpPr>
        <p:spPr>
          <a:xfrm>
            <a:off x="888683" y="5335191"/>
            <a:ext cx="7366635" cy="22860"/>
          </a:xfrm>
          <a:prstGeom prst="roundRect">
            <a:avLst>
              <a:gd name="adj" fmla="val 323794"/>
            </a:avLst>
          </a:prstGeom>
          <a:solidFill>
            <a:srgbClr val="6D4562"/>
          </a:solidFill>
          <a:ln/>
        </p:spPr>
      </p:sp>
      <p:sp>
        <p:nvSpPr>
          <p:cNvPr id="19" name="Text 16"/>
          <p:cNvSpPr/>
          <p:nvPr/>
        </p:nvSpPr>
        <p:spPr>
          <a:xfrm>
            <a:off x="1064895" y="5511403"/>
            <a:ext cx="215824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📊</a:t>
            </a: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Enhances Accuracy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64895" y="5848350"/>
            <a:ext cx="701421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Automated math audits and multi-currency synchronization ensure reliable, compliant records.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81063" y="6444496"/>
            <a:ext cx="7381875" cy="907375"/>
          </a:xfrm>
          <a:prstGeom prst="roundRect">
            <a:avLst>
              <a:gd name="adj" fmla="val 8158"/>
            </a:avLst>
          </a:prstGeom>
          <a:solidFill>
            <a:srgbClr val="183A13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6685836"/>
            <a:ext cx="220266" cy="17621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53753" y="6629519"/>
            <a:ext cx="6632972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By automating repetitive tasks, the system not only improves accuracy and speed but also enhances overall productivity and security across the entire financial process.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970478"/>
            <a:ext cx="6755606" cy="84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5300" dirty="0"/>
          </a:p>
        </p:txBody>
      </p:sp>
      <p:sp>
        <p:nvSpPr>
          <p:cNvPr id="4" name="Text 1"/>
          <p:cNvSpPr/>
          <p:nvPr/>
        </p:nvSpPr>
        <p:spPr>
          <a:xfrm>
            <a:off x="881063" y="2145268"/>
            <a:ext cx="7381875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 appreciate your time and attention. This project represents a meaningful step toward intelligent, automated financial operations — combining AI, security, and usability to solve real-world business challenges.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81063" y="3450312"/>
            <a:ext cx="3580805" cy="1246346"/>
          </a:xfrm>
          <a:prstGeom prst="roundRect">
            <a:avLst>
              <a:gd name="adj" fmla="val 742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8948" y="367819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Presented By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08948" y="4116348"/>
            <a:ext cx="312503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Youraj Rana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2133" y="3450312"/>
            <a:ext cx="3580805" cy="1246346"/>
          </a:xfrm>
          <a:prstGeom prst="roundRect">
            <a:avLst>
              <a:gd name="adj" fmla="val 742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0018" y="367819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Program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910018" y="4116348"/>
            <a:ext cx="312503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MCA – 2nd Year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81063" y="4916924"/>
            <a:ext cx="7381875" cy="1246346"/>
          </a:xfrm>
          <a:prstGeom prst="roundRect">
            <a:avLst>
              <a:gd name="adj" fmla="val 742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08948" y="5144810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Roll Number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08948" y="5582960"/>
            <a:ext cx="692610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2202452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11461" y="6658808"/>
            <a:ext cx="705147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81063" y="6411039"/>
            <a:ext cx="30480" cy="847963"/>
          </a:xfrm>
          <a:prstGeom prst="rect">
            <a:avLst/>
          </a:prstGeom>
          <a:solidFill>
            <a:srgbClr val="A95B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1161</Words>
  <Application>Microsoft Office PowerPoint</Application>
  <PresentationFormat>Custom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Prompt Medium</vt:lpstr>
      <vt:lpstr>Mukta Light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yeman rana</cp:lastModifiedBy>
  <cp:revision>3</cp:revision>
  <dcterms:created xsi:type="dcterms:W3CDTF">2026-04-24T19:53:37Z</dcterms:created>
  <dcterms:modified xsi:type="dcterms:W3CDTF">2026-04-25T03:22:44Z</dcterms:modified>
</cp:coreProperties>
</file>