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59" r:id="rId5"/>
    <p:sldId id="260" r:id="rId6"/>
    <p:sldId id="261" r:id="rId7"/>
    <p:sldId id="262" r:id="rId8"/>
    <p:sldId id="263" r:id="rId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2" d="100"/>
          <a:sy n="62" d="100"/>
        </p:scale>
        <p:origin x="804" y="4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yeman rana" userId="37e5f66ba44ee92c" providerId="LiveId" clId="{0DF20214-CC3B-4F88-9EBA-A96E3B8AA375}"/>
    <pc:docChg chg="undo custSel addSld delSld modSld">
      <pc:chgData name="yeman rana" userId="37e5f66ba44ee92c" providerId="LiveId" clId="{0DF20214-CC3B-4F88-9EBA-A96E3B8AA375}" dt="2026-03-28T05:22:50.849" v="230" actId="1076"/>
      <pc:docMkLst>
        <pc:docMk/>
      </pc:docMkLst>
      <pc:sldChg chg="modSp new mod">
        <pc:chgData name="yeman rana" userId="37e5f66ba44ee92c" providerId="LiveId" clId="{0DF20214-CC3B-4F88-9EBA-A96E3B8AA375}" dt="2026-03-28T05:03:06.608" v="111" actId="207"/>
        <pc:sldMkLst>
          <pc:docMk/>
          <pc:sldMk cId="2530155375" sldId="256"/>
        </pc:sldMkLst>
        <pc:spChg chg="mod">
          <ac:chgData name="yeman rana" userId="37e5f66ba44ee92c" providerId="LiveId" clId="{0DF20214-CC3B-4F88-9EBA-A96E3B8AA375}" dt="2026-03-28T05:03:03.662" v="110" actId="14100"/>
          <ac:spMkLst>
            <pc:docMk/>
            <pc:sldMk cId="2530155375" sldId="256"/>
            <ac:spMk id="2" creationId="{D5083F33-800C-FE70-E830-A927AC193EDA}"/>
          </ac:spMkLst>
        </pc:spChg>
        <pc:spChg chg="mod">
          <ac:chgData name="yeman rana" userId="37e5f66ba44ee92c" providerId="LiveId" clId="{0DF20214-CC3B-4F88-9EBA-A96E3B8AA375}" dt="2026-03-28T05:03:06.608" v="111" actId="207"/>
          <ac:spMkLst>
            <pc:docMk/>
            <pc:sldMk cId="2530155375" sldId="256"/>
            <ac:spMk id="3" creationId="{80180EE5-E96F-DB96-33EC-7AE0A129CE5B}"/>
          </ac:spMkLst>
        </pc:spChg>
      </pc:sldChg>
      <pc:sldChg chg="modSp new mod">
        <pc:chgData name="yeman rana" userId="37e5f66ba44ee92c" providerId="LiveId" clId="{0DF20214-CC3B-4F88-9EBA-A96E3B8AA375}" dt="2026-03-28T05:20:29.049" v="185" actId="27636"/>
        <pc:sldMkLst>
          <pc:docMk/>
          <pc:sldMk cId="556645620" sldId="257"/>
        </pc:sldMkLst>
        <pc:spChg chg="mod">
          <ac:chgData name="yeman rana" userId="37e5f66ba44ee92c" providerId="LiveId" clId="{0DF20214-CC3B-4F88-9EBA-A96E3B8AA375}" dt="2026-03-28T05:08:44.195" v="130" actId="1076"/>
          <ac:spMkLst>
            <pc:docMk/>
            <pc:sldMk cId="556645620" sldId="257"/>
            <ac:spMk id="2" creationId="{DE745736-9944-BCB5-EFBE-1ACB2C3988CD}"/>
          </ac:spMkLst>
        </pc:spChg>
        <pc:spChg chg="mod">
          <ac:chgData name="yeman rana" userId="37e5f66ba44ee92c" providerId="LiveId" clId="{0DF20214-CC3B-4F88-9EBA-A96E3B8AA375}" dt="2026-03-28T05:20:29.049" v="185" actId="27636"/>
          <ac:spMkLst>
            <pc:docMk/>
            <pc:sldMk cId="556645620" sldId="257"/>
            <ac:spMk id="3" creationId="{2C8556A8-9144-E7CA-F5D7-901A1A48DE86}"/>
          </ac:spMkLst>
        </pc:spChg>
      </pc:sldChg>
      <pc:sldChg chg="modSp new mod">
        <pc:chgData name="yeman rana" userId="37e5f66ba44ee92c" providerId="LiveId" clId="{0DF20214-CC3B-4F88-9EBA-A96E3B8AA375}" dt="2026-03-28T05:20:15.978" v="179" actId="27636"/>
        <pc:sldMkLst>
          <pc:docMk/>
          <pc:sldMk cId="2652100275" sldId="258"/>
        </pc:sldMkLst>
        <pc:spChg chg="mod">
          <ac:chgData name="yeman rana" userId="37e5f66ba44ee92c" providerId="LiveId" clId="{0DF20214-CC3B-4F88-9EBA-A96E3B8AA375}" dt="2026-03-28T05:18:46.799" v="159" actId="1076"/>
          <ac:spMkLst>
            <pc:docMk/>
            <pc:sldMk cId="2652100275" sldId="258"/>
            <ac:spMk id="2" creationId="{B30968F8-049F-186F-E97E-281E19F454E0}"/>
          </ac:spMkLst>
        </pc:spChg>
        <pc:spChg chg="mod">
          <ac:chgData name="yeman rana" userId="37e5f66ba44ee92c" providerId="LiveId" clId="{0DF20214-CC3B-4F88-9EBA-A96E3B8AA375}" dt="2026-03-28T05:20:15.978" v="179" actId="27636"/>
          <ac:spMkLst>
            <pc:docMk/>
            <pc:sldMk cId="2652100275" sldId="258"/>
            <ac:spMk id="3" creationId="{0F575E38-E3D5-DEC0-6597-115B1CFFF79A}"/>
          </ac:spMkLst>
        </pc:spChg>
      </pc:sldChg>
      <pc:sldChg chg="modSp new mod chgLayout">
        <pc:chgData name="yeman rana" userId="37e5f66ba44ee92c" providerId="LiveId" clId="{0DF20214-CC3B-4F88-9EBA-A96E3B8AA375}" dt="2026-03-28T05:20:05.831" v="175" actId="403"/>
        <pc:sldMkLst>
          <pc:docMk/>
          <pc:sldMk cId="1264515573" sldId="259"/>
        </pc:sldMkLst>
        <pc:spChg chg="mod ord">
          <ac:chgData name="yeman rana" userId="37e5f66ba44ee92c" providerId="LiveId" clId="{0DF20214-CC3B-4F88-9EBA-A96E3B8AA375}" dt="2026-03-28T05:18:53.582" v="160" actId="1076"/>
          <ac:spMkLst>
            <pc:docMk/>
            <pc:sldMk cId="1264515573" sldId="259"/>
            <ac:spMk id="2" creationId="{279C2949-1501-7E9F-A6A3-94E17BD22A9E}"/>
          </ac:spMkLst>
        </pc:spChg>
        <pc:spChg chg="mod ord">
          <ac:chgData name="yeman rana" userId="37e5f66ba44ee92c" providerId="LiveId" clId="{0DF20214-CC3B-4F88-9EBA-A96E3B8AA375}" dt="2026-03-28T05:20:05.831" v="175" actId="403"/>
          <ac:spMkLst>
            <pc:docMk/>
            <pc:sldMk cId="1264515573" sldId="259"/>
            <ac:spMk id="3" creationId="{CDA0A3BC-20CC-444E-AFA7-E96F6EB6D0D2}"/>
          </ac:spMkLst>
        </pc:spChg>
      </pc:sldChg>
      <pc:sldChg chg="modSp new mod">
        <pc:chgData name="yeman rana" userId="37e5f66ba44ee92c" providerId="LiveId" clId="{0DF20214-CC3B-4F88-9EBA-A96E3B8AA375}" dt="2026-03-28T05:19:56.755" v="172" actId="403"/>
        <pc:sldMkLst>
          <pc:docMk/>
          <pc:sldMk cId="3811117514" sldId="260"/>
        </pc:sldMkLst>
        <pc:spChg chg="mod">
          <ac:chgData name="yeman rana" userId="37e5f66ba44ee92c" providerId="LiveId" clId="{0DF20214-CC3B-4F88-9EBA-A96E3B8AA375}" dt="2026-03-28T05:18:23.140" v="156" actId="1076"/>
          <ac:spMkLst>
            <pc:docMk/>
            <pc:sldMk cId="3811117514" sldId="260"/>
            <ac:spMk id="2" creationId="{8BB8BB23-F35C-22CF-5940-94CFEA9F5843}"/>
          </ac:spMkLst>
        </pc:spChg>
        <pc:spChg chg="mod">
          <ac:chgData name="yeman rana" userId="37e5f66ba44ee92c" providerId="LiveId" clId="{0DF20214-CC3B-4F88-9EBA-A96E3B8AA375}" dt="2026-03-28T05:19:56.755" v="172" actId="403"/>
          <ac:spMkLst>
            <pc:docMk/>
            <pc:sldMk cId="3811117514" sldId="260"/>
            <ac:spMk id="3" creationId="{1A157BDB-D907-5292-0F9F-CCE7D65ECCC0}"/>
          </ac:spMkLst>
        </pc:spChg>
      </pc:sldChg>
      <pc:sldChg chg="modSp new mod">
        <pc:chgData name="yeman rana" userId="37e5f66ba44ee92c" providerId="LiveId" clId="{0DF20214-CC3B-4F88-9EBA-A96E3B8AA375}" dt="2026-03-28T05:19:47.162" v="169" actId="123"/>
        <pc:sldMkLst>
          <pc:docMk/>
          <pc:sldMk cId="2669752217" sldId="261"/>
        </pc:sldMkLst>
        <pc:spChg chg="mod">
          <ac:chgData name="yeman rana" userId="37e5f66ba44ee92c" providerId="LiveId" clId="{0DF20214-CC3B-4F88-9EBA-A96E3B8AA375}" dt="2026-03-28T05:19:19.710" v="163" actId="1076"/>
          <ac:spMkLst>
            <pc:docMk/>
            <pc:sldMk cId="2669752217" sldId="261"/>
            <ac:spMk id="2" creationId="{D0DC8A17-9A6A-F5F0-2767-647FC49C4D95}"/>
          </ac:spMkLst>
        </pc:spChg>
        <pc:spChg chg="mod">
          <ac:chgData name="yeman rana" userId="37e5f66ba44ee92c" providerId="LiveId" clId="{0DF20214-CC3B-4F88-9EBA-A96E3B8AA375}" dt="2026-03-28T05:19:47.162" v="169" actId="123"/>
          <ac:spMkLst>
            <pc:docMk/>
            <pc:sldMk cId="2669752217" sldId="261"/>
            <ac:spMk id="3" creationId="{61FBCF81-152C-51D0-3DF9-AE8BAACAFE29}"/>
          </ac:spMkLst>
        </pc:spChg>
      </pc:sldChg>
      <pc:sldChg chg="modSp new mod">
        <pc:chgData name="yeman rana" userId="37e5f66ba44ee92c" providerId="LiveId" clId="{0DF20214-CC3B-4F88-9EBA-A96E3B8AA375}" dt="2026-03-28T05:21:25.209" v="193" actId="1076"/>
        <pc:sldMkLst>
          <pc:docMk/>
          <pc:sldMk cId="3878775133" sldId="262"/>
        </pc:sldMkLst>
        <pc:spChg chg="mod">
          <ac:chgData name="yeman rana" userId="37e5f66ba44ee92c" providerId="LiveId" clId="{0DF20214-CC3B-4F88-9EBA-A96E3B8AA375}" dt="2026-03-28T05:21:25.209" v="193" actId="1076"/>
          <ac:spMkLst>
            <pc:docMk/>
            <pc:sldMk cId="3878775133" sldId="262"/>
            <ac:spMk id="2" creationId="{BB744EB4-CE7E-9DA1-A5AC-103DA940B745}"/>
          </ac:spMkLst>
        </pc:spChg>
        <pc:spChg chg="mod">
          <ac:chgData name="yeman rana" userId="37e5f66ba44ee92c" providerId="LiveId" clId="{0DF20214-CC3B-4F88-9EBA-A96E3B8AA375}" dt="2026-03-28T05:21:20.083" v="192" actId="123"/>
          <ac:spMkLst>
            <pc:docMk/>
            <pc:sldMk cId="3878775133" sldId="262"/>
            <ac:spMk id="3" creationId="{CE1E7549-DB39-E70E-AB00-6FBB7758C24E}"/>
          </ac:spMkLst>
        </pc:spChg>
      </pc:sldChg>
      <pc:sldChg chg="new del">
        <pc:chgData name="yeman rana" userId="37e5f66ba44ee92c" providerId="LiveId" clId="{0DF20214-CC3B-4F88-9EBA-A96E3B8AA375}" dt="2026-03-28T05:22:06.729" v="199" actId="2696"/>
        <pc:sldMkLst>
          <pc:docMk/>
          <pc:sldMk cId="1247909621" sldId="263"/>
        </pc:sldMkLst>
      </pc:sldChg>
      <pc:sldChg chg="modSp new mod">
        <pc:chgData name="yeman rana" userId="37e5f66ba44ee92c" providerId="LiveId" clId="{0DF20214-CC3B-4F88-9EBA-A96E3B8AA375}" dt="2026-03-28T05:22:50.849" v="230" actId="1076"/>
        <pc:sldMkLst>
          <pc:docMk/>
          <pc:sldMk cId="3071362746" sldId="263"/>
        </pc:sldMkLst>
        <pc:spChg chg="mod">
          <ac:chgData name="yeman rana" userId="37e5f66ba44ee92c" providerId="LiveId" clId="{0DF20214-CC3B-4F88-9EBA-A96E3B8AA375}" dt="2026-03-28T05:22:50.849" v="230" actId="1076"/>
          <ac:spMkLst>
            <pc:docMk/>
            <pc:sldMk cId="3071362746" sldId="263"/>
            <ac:spMk id="2" creationId="{B0AB1D4D-3B7F-9912-8AA9-9F04E2F60FF8}"/>
          </ac:spMkLst>
        </pc:spChg>
      </pc:sldChg>
      <pc:sldChg chg="modSp new del mod">
        <pc:chgData name="yeman rana" userId="37e5f66ba44ee92c" providerId="LiveId" clId="{0DF20214-CC3B-4F88-9EBA-A96E3B8AA375}" dt="2026-03-28T05:21:43.115" v="197" actId="2696"/>
        <pc:sldMkLst>
          <pc:docMk/>
          <pc:sldMk cId="3472230688" sldId="263"/>
        </pc:sldMkLst>
        <pc:spChg chg="mod">
          <ac:chgData name="yeman rana" userId="37e5f66ba44ee92c" providerId="LiveId" clId="{0DF20214-CC3B-4F88-9EBA-A96E3B8AA375}" dt="2026-03-28T05:21:38.708" v="196" actId="20577"/>
          <ac:spMkLst>
            <pc:docMk/>
            <pc:sldMk cId="3472230688" sldId="263"/>
            <ac:spMk id="2" creationId="{CA5B3EB8-59FC-D996-5935-3375BAB4D69B}"/>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97D0311A-5892-4461-9554-B2368AE7361A}" type="datetimeFigureOut">
              <a:rPr lang="en-IN" smtClean="0"/>
              <a:t>28-03-2026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B5D63BF-C3F6-46BC-8BD9-E960F517B143}" type="slidenum">
              <a:rPr lang="en-IN" smtClean="0"/>
              <a:t>‹#›</a:t>
            </a:fld>
            <a:endParaRPr lang="en-IN"/>
          </a:p>
        </p:txBody>
      </p:sp>
    </p:spTree>
    <p:extLst>
      <p:ext uri="{BB962C8B-B14F-4D97-AF65-F5344CB8AC3E}">
        <p14:creationId xmlns:p14="http://schemas.microsoft.com/office/powerpoint/2010/main" val="285198285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7D0311A-5892-4461-9554-B2368AE7361A}" type="datetimeFigureOut">
              <a:rPr lang="en-IN" smtClean="0"/>
              <a:t>28-03-2026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B5D63BF-C3F6-46BC-8BD9-E960F517B143}" type="slidenum">
              <a:rPr lang="en-IN" smtClean="0"/>
              <a:t>‹#›</a:t>
            </a:fld>
            <a:endParaRPr lang="en-IN"/>
          </a:p>
        </p:txBody>
      </p:sp>
    </p:spTree>
    <p:extLst>
      <p:ext uri="{BB962C8B-B14F-4D97-AF65-F5344CB8AC3E}">
        <p14:creationId xmlns:p14="http://schemas.microsoft.com/office/powerpoint/2010/main" val="186777281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7D0311A-5892-4461-9554-B2368AE7361A}" type="datetimeFigureOut">
              <a:rPr lang="en-IN" smtClean="0"/>
              <a:t>28-03-2026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B5D63BF-C3F6-46BC-8BD9-E960F517B143}" type="slidenum">
              <a:rPr lang="en-IN" smtClean="0"/>
              <a:t>‹#›</a:t>
            </a:fld>
            <a:endParaRPr lang="en-IN"/>
          </a:p>
        </p:txBody>
      </p:sp>
    </p:spTree>
    <p:extLst>
      <p:ext uri="{BB962C8B-B14F-4D97-AF65-F5344CB8AC3E}">
        <p14:creationId xmlns:p14="http://schemas.microsoft.com/office/powerpoint/2010/main" val="196909281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97D0311A-5892-4461-9554-B2368AE7361A}" type="datetimeFigureOut">
              <a:rPr lang="en-IN" smtClean="0"/>
              <a:t>28-03-2026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DB5D63BF-C3F6-46BC-8BD9-E960F517B143}" type="slidenum">
              <a:rPr lang="en-IN" smtClean="0"/>
              <a:t>‹#›</a:t>
            </a:fld>
            <a:endParaRPr lang="en-IN"/>
          </a:p>
        </p:txBody>
      </p:sp>
    </p:spTree>
    <p:extLst>
      <p:ext uri="{BB962C8B-B14F-4D97-AF65-F5344CB8AC3E}">
        <p14:creationId xmlns:p14="http://schemas.microsoft.com/office/powerpoint/2010/main" val="380164663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97D0311A-5892-4461-9554-B2368AE7361A}" type="datetimeFigureOut">
              <a:rPr lang="en-IN" smtClean="0"/>
              <a:t>28-03-2026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DB5D63BF-C3F6-46BC-8BD9-E960F517B143}" type="slidenum">
              <a:rPr lang="en-IN" smtClean="0"/>
              <a:t>‹#›</a:t>
            </a:fld>
            <a:endParaRPr lang="en-IN"/>
          </a:p>
        </p:txBody>
      </p:sp>
    </p:spTree>
    <p:extLst>
      <p:ext uri="{BB962C8B-B14F-4D97-AF65-F5344CB8AC3E}">
        <p14:creationId xmlns:p14="http://schemas.microsoft.com/office/powerpoint/2010/main" val="292436487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97D0311A-5892-4461-9554-B2368AE7361A}" type="datetimeFigureOut">
              <a:rPr lang="en-IN" smtClean="0"/>
              <a:t>28-03-2026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DB5D63BF-C3F6-46BC-8BD9-E960F517B143}" type="slidenum">
              <a:rPr lang="en-IN" smtClean="0"/>
              <a:t>‹#›</a:t>
            </a:fld>
            <a:endParaRPr lang="en-IN"/>
          </a:p>
        </p:txBody>
      </p:sp>
    </p:spTree>
    <p:extLst>
      <p:ext uri="{BB962C8B-B14F-4D97-AF65-F5344CB8AC3E}">
        <p14:creationId xmlns:p14="http://schemas.microsoft.com/office/powerpoint/2010/main" val="248969291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7D0311A-5892-4461-9554-B2368AE7361A}" type="datetimeFigureOut">
              <a:rPr lang="en-IN" smtClean="0"/>
              <a:t>28-03-2026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DB5D63BF-C3F6-46BC-8BD9-E960F517B143}" type="slidenum">
              <a:rPr lang="en-IN" smtClean="0"/>
              <a:t>‹#›</a:t>
            </a:fld>
            <a:endParaRPr lang="en-IN"/>
          </a:p>
        </p:txBody>
      </p:sp>
    </p:spTree>
    <p:extLst>
      <p:ext uri="{BB962C8B-B14F-4D97-AF65-F5344CB8AC3E}">
        <p14:creationId xmlns:p14="http://schemas.microsoft.com/office/powerpoint/2010/main" val="58248892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97D0311A-5892-4461-9554-B2368AE7361A}" type="datetimeFigureOut">
              <a:rPr lang="en-IN" smtClean="0"/>
              <a:t>28-03-2026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DB5D63BF-C3F6-46BC-8BD9-E960F517B143}" type="slidenum">
              <a:rPr lang="en-IN" smtClean="0"/>
              <a:t>‹#›</a:t>
            </a:fld>
            <a:endParaRPr lang="en-IN"/>
          </a:p>
        </p:txBody>
      </p:sp>
    </p:spTree>
    <p:extLst>
      <p:ext uri="{BB962C8B-B14F-4D97-AF65-F5344CB8AC3E}">
        <p14:creationId xmlns:p14="http://schemas.microsoft.com/office/powerpoint/2010/main" val="131444855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97D0311A-5892-4461-9554-B2368AE7361A}" type="datetimeFigureOut">
              <a:rPr lang="en-IN" smtClean="0"/>
              <a:t>28-03-2026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DB5D63BF-C3F6-46BC-8BD9-E960F517B143}" type="slidenum">
              <a:rPr lang="en-IN" smtClean="0"/>
              <a:t>‹#›</a:t>
            </a:fld>
            <a:endParaRPr lang="en-IN"/>
          </a:p>
        </p:txBody>
      </p:sp>
    </p:spTree>
    <p:extLst>
      <p:ext uri="{BB962C8B-B14F-4D97-AF65-F5344CB8AC3E}">
        <p14:creationId xmlns:p14="http://schemas.microsoft.com/office/powerpoint/2010/main" val="216861690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7D0311A-5892-4461-9554-B2368AE7361A}" type="datetimeFigureOut">
              <a:rPr lang="en-IN" smtClean="0"/>
              <a:t>28-03-2026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B5D63BF-C3F6-46BC-8BD9-E960F517B143}" type="slidenum">
              <a:rPr lang="en-IN" smtClean="0"/>
              <a:t>‹#›</a:t>
            </a:fld>
            <a:endParaRPr lang="en-IN"/>
          </a:p>
        </p:txBody>
      </p:sp>
    </p:spTree>
    <p:extLst>
      <p:ext uri="{BB962C8B-B14F-4D97-AF65-F5344CB8AC3E}">
        <p14:creationId xmlns:p14="http://schemas.microsoft.com/office/powerpoint/2010/main" val="375631087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7D0311A-5892-4461-9554-B2368AE7361A}" type="datetimeFigureOut">
              <a:rPr lang="en-IN" smtClean="0"/>
              <a:t>28-03-2026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B5D63BF-C3F6-46BC-8BD9-E960F517B143}" type="slidenum">
              <a:rPr lang="en-IN" smtClean="0"/>
              <a:t>‹#›</a:t>
            </a:fld>
            <a:endParaRPr lang="en-IN"/>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extLst>
      <p:ext uri="{BB962C8B-B14F-4D97-AF65-F5344CB8AC3E}">
        <p14:creationId xmlns:p14="http://schemas.microsoft.com/office/powerpoint/2010/main" val="147792763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7D0311A-5892-4461-9554-B2368AE7361A}" type="datetimeFigureOut">
              <a:rPr lang="en-IN" smtClean="0"/>
              <a:t>28-03-2026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B5D63BF-C3F6-46BC-8BD9-E960F517B143}" type="slidenum">
              <a:rPr lang="en-IN" smtClean="0"/>
              <a:t>‹#›</a:t>
            </a:fld>
            <a:endParaRPr lang="en-IN"/>
          </a:p>
        </p:txBody>
      </p:sp>
    </p:spTree>
    <p:extLst>
      <p:ext uri="{BB962C8B-B14F-4D97-AF65-F5344CB8AC3E}">
        <p14:creationId xmlns:p14="http://schemas.microsoft.com/office/powerpoint/2010/main" val="49345668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7D0311A-5892-4461-9554-B2368AE7361A}" type="datetimeFigureOut">
              <a:rPr lang="en-IN" smtClean="0"/>
              <a:t>28-03-2026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B5D63BF-C3F6-46BC-8BD9-E960F517B143}" type="slidenum">
              <a:rPr lang="en-IN" smtClean="0"/>
              <a:t>‹#›</a:t>
            </a:fld>
            <a:endParaRPr lang="en-IN"/>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172298514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7D0311A-5892-4461-9554-B2368AE7361A}" type="datetimeFigureOut">
              <a:rPr lang="en-IN" smtClean="0"/>
              <a:t>28-03-2026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B5D63BF-C3F6-46BC-8BD9-E960F517B143}" type="slidenum">
              <a:rPr lang="en-IN" smtClean="0"/>
              <a:t>‹#›</a:t>
            </a:fld>
            <a:endParaRPr lang="en-IN"/>
          </a:p>
        </p:txBody>
      </p:sp>
    </p:spTree>
    <p:extLst>
      <p:ext uri="{BB962C8B-B14F-4D97-AF65-F5344CB8AC3E}">
        <p14:creationId xmlns:p14="http://schemas.microsoft.com/office/powerpoint/2010/main" val="135606835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7D0311A-5892-4461-9554-B2368AE7361A}" type="datetimeFigureOut">
              <a:rPr lang="en-IN" smtClean="0"/>
              <a:t>28-03-2026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B5D63BF-C3F6-46BC-8BD9-E960F517B143}" type="slidenum">
              <a:rPr lang="en-IN" smtClean="0"/>
              <a:t>‹#›</a:t>
            </a:fld>
            <a:endParaRPr lang="en-IN"/>
          </a:p>
        </p:txBody>
      </p:sp>
    </p:spTree>
    <p:extLst>
      <p:ext uri="{BB962C8B-B14F-4D97-AF65-F5344CB8AC3E}">
        <p14:creationId xmlns:p14="http://schemas.microsoft.com/office/powerpoint/2010/main" val="288459149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7D0311A-5892-4461-9554-B2368AE7361A}" type="datetimeFigureOut">
              <a:rPr lang="en-IN" smtClean="0"/>
              <a:t>28-03-2026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B5D63BF-C3F6-46BC-8BD9-E960F517B143}" type="slidenum">
              <a:rPr lang="en-IN" smtClean="0"/>
              <a:t>‹#›</a:t>
            </a:fld>
            <a:endParaRPr lang="en-IN"/>
          </a:p>
        </p:txBody>
      </p:sp>
    </p:spTree>
    <p:extLst>
      <p:ext uri="{BB962C8B-B14F-4D97-AF65-F5344CB8AC3E}">
        <p14:creationId xmlns:p14="http://schemas.microsoft.com/office/powerpoint/2010/main" val="287828357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97D0311A-5892-4461-9554-B2368AE7361A}" type="datetimeFigureOut">
              <a:rPr lang="en-IN" smtClean="0"/>
              <a:t>28-03-2026</a:t>
            </a:fld>
            <a:endParaRPr lang="en-IN"/>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B5D63BF-C3F6-46BC-8BD9-E960F517B143}" type="slidenum">
              <a:rPr lang="en-IN" smtClean="0"/>
              <a:t>‹#›</a:t>
            </a:fld>
            <a:endParaRPr lang="en-IN"/>
          </a:p>
        </p:txBody>
      </p:sp>
    </p:spTree>
    <p:extLst>
      <p:ext uri="{BB962C8B-B14F-4D97-AF65-F5344CB8AC3E}">
        <p14:creationId xmlns:p14="http://schemas.microsoft.com/office/powerpoint/2010/main" val="340626262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083F33-800C-FE70-E830-A927AC193EDA}"/>
              </a:ext>
            </a:extLst>
          </p:cNvPr>
          <p:cNvSpPr>
            <a:spLocks noGrp="1"/>
          </p:cNvSpPr>
          <p:nvPr>
            <p:ph type="ctrTitle"/>
          </p:nvPr>
        </p:nvSpPr>
        <p:spPr>
          <a:xfrm>
            <a:off x="328773" y="1150706"/>
            <a:ext cx="10190183" cy="3023420"/>
          </a:xfrm>
        </p:spPr>
        <p:txBody>
          <a:bodyPr>
            <a:normAutofit fontScale="90000"/>
          </a:bodyPr>
          <a:lstStyle/>
          <a:p>
            <a:r>
              <a:rPr lang="en-IN" b="1" i="1" dirty="0">
                <a:solidFill>
                  <a:schemeClr val="tx1"/>
                </a:solidFill>
              </a:rPr>
              <a:t>FINOPS –“Automated Intelligent Document Processing system for Financial operation(Amount Payable)”</a:t>
            </a:r>
            <a:endParaRPr lang="en-IN" dirty="0">
              <a:solidFill>
                <a:schemeClr val="tx1"/>
              </a:solidFill>
            </a:endParaRPr>
          </a:p>
        </p:txBody>
      </p:sp>
      <p:sp>
        <p:nvSpPr>
          <p:cNvPr id="3" name="Subtitle 2">
            <a:extLst>
              <a:ext uri="{FF2B5EF4-FFF2-40B4-BE49-F238E27FC236}">
                <a16:creationId xmlns:a16="http://schemas.microsoft.com/office/drawing/2014/main" id="{80180EE5-E96F-DB96-33EC-7AE0A129CE5B}"/>
              </a:ext>
            </a:extLst>
          </p:cNvPr>
          <p:cNvSpPr>
            <a:spLocks noGrp="1"/>
          </p:cNvSpPr>
          <p:nvPr>
            <p:ph type="subTitle" idx="1"/>
          </p:nvPr>
        </p:nvSpPr>
        <p:spPr>
          <a:xfrm>
            <a:off x="1948856" y="4523444"/>
            <a:ext cx="7766936" cy="1096899"/>
          </a:xfrm>
        </p:spPr>
        <p:txBody>
          <a:bodyPr>
            <a:normAutofit lnSpcReduction="10000"/>
          </a:bodyPr>
          <a:lstStyle/>
          <a:p>
            <a:r>
              <a:rPr lang="en-US" dirty="0">
                <a:solidFill>
                  <a:schemeClr val="tx1"/>
                </a:solidFill>
              </a:rPr>
              <a:t>NAME : YOURAJ RANA</a:t>
            </a:r>
          </a:p>
          <a:p>
            <a:r>
              <a:rPr lang="en-US" dirty="0">
                <a:solidFill>
                  <a:schemeClr val="tx1"/>
                </a:solidFill>
              </a:rPr>
              <a:t>CLASS:MCA-2</a:t>
            </a:r>
          </a:p>
          <a:p>
            <a:r>
              <a:rPr lang="en-US" dirty="0">
                <a:solidFill>
                  <a:schemeClr val="tx1"/>
                </a:solidFill>
              </a:rPr>
              <a:t>ROLLNO : 2202452</a:t>
            </a:r>
            <a:endParaRPr lang="en-IN" dirty="0">
              <a:solidFill>
                <a:schemeClr val="tx1"/>
              </a:solidFill>
            </a:endParaRPr>
          </a:p>
        </p:txBody>
      </p:sp>
    </p:spTree>
    <p:extLst>
      <p:ext uri="{BB962C8B-B14F-4D97-AF65-F5344CB8AC3E}">
        <p14:creationId xmlns:p14="http://schemas.microsoft.com/office/powerpoint/2010/main" val="253015537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745736-9944-BCB5-EFBE-1ACB2C3988CD}"/>
              </a:ext>
            </a:extLst>
          </p:cNvPr>
          <p:cNvSpPr>
            <a:spLocks noGrp="1"/>
          </p:cNvSpPr>
          <p:nvPr>
            <p:ph type="title"/>
          </p:nvPr>
        </p:nvSpPr>
        <p:spPr>
          <a:xfrm>
            <a:off x="677334" y="979470"/>
            <a:ext cx="8596668" cy="859604"/>
          </a:xfrm>
        </p:spPr>
        <p:txBody>
          <a:bodyPr/>
          <a:lstStyle/>
          <a:p>
            <a:r>
              <a:rPr lang="en-US" dirty="0"/>
              <a:t>INTRODUCTION</a:t>
            </a:r>
            <a:endParaRPr lang="en-IN" dirty="0"/>
          </a:p>
        </p:txBody>
      </p:sp>
      <p:sp>
        <p:nvSpPr>
          <p:cNvPr id="3" name="Content Placeholder 2">
            <a:extLst>
              <a:ext uri="{FF2B5EF4-FFF2-40B4-BE49-F238E27FC236}">
                <a16:creationId xmlns:a16="http://schemas.microsoft.com/office/drawing/2014/main" id="{2C8556A8-9144-E7CA-F5D7-901A1A48DE86}"/>
              </a:ext>
            </a:extLst>
          </p:cNvPr>
          <p:cNvSpPr>
            <a:spLocks noGrp="1"/>
          </p:cNvSpPr>
          <p:nvPr>
            <p:ph idx="1"/>
          </p:nvPr>
        </p:nvSpPr>
        <p:spPr>
          <a:xfrm>
            <a:off x="677333" y="2160589"/>
            <a:ext cx="9206405" cy="3880773"/>
          </a:xfrm>
        </p:spPr>
        <p:txBody>
          <a:bodyPr>
            <a:normAutofit fontScale="92500" lnSpcReduction="20000"/>
          </a:bodyPr>
          <a:lstStyle/>
          <a:p>
            <a:r>
              <a:rPr lang="en-US" sz="2200" dirty="0">
                <a:latin typeface="Times New Roman" panose="02020603050405020304" pitchFamily="18" charset="0"/>
                <a:cs typeface="Times New Roman" panose="02020603050405020304" pitchFamily="18" charset="0"/>
              </a:rPr>
              <a:t>In today’s digital world, many companies still use traditional methods in their Accounts Payable (AP) process. This system is heavily dependent on manual work, where employees enter invoice data by hand. This creates several serious problems:</a:t>
            </a:r>
          </a:p>
          <a:p>
            <a:r>
              <a:rPr lang="en-US" sz="2200" dirty="0">
                <a:latin typeface="Times New Roman" panose="02020603050405020304" pitchFamily="18" charset="0"/>
                <a:cs typeface="Times New Roman" panose="02020603050405020304" pitchFamily="18" charset="0"/>
              </a:rPr>
              <a:t>It is </a:t>
            </a:r>
            <a:r>
              <a:rPr lang="en-US" sz="2200" b="1" dirty="0">
                <a:latin typeface="Times New Roman" panose="02020603050405020304" pitchFamily="18" charset="0"/>
                <a:cs typeface="Times New Roman" panose="02020603050405020304" pitchFamily="18" charset="0"/>
              </a:rPr>
              <a:t>highly reliant on manual data entry</a:t>
            </a:r>
            <a:r>
              <a:rPr lang="en-US" sz="2200" dirty="0">
                <a:latin typeface="Times New Roman" panose="02020603050405020304" pitchFamily="18" charset="0"/>
                <a:cs typeface="Times New Roman" panose="02020603050405020304" pitchFamily="18" charset="0"/>
              </a:rPr>
              <a:t>, making the process slow and tiring. </a:t>
            </a:r>
          </a:p>
          <a:p>
            <a:r>
              <a:rPr lang="en-US" sz="2200" dirty="0">
                <a:latin typeface="Times New Roman" panose="02020603050405020304" pitchFamily="18" charset="0"/>
                <a:cs typeface="Times New Roman" panose="02020603050405020304" pitchFamily="18" charset="0"/>
              </a:rPr>
              <a:t>It is </a:t>
            </a:r>
            <a:r>
              <a:rPr lang="en-US" sz="2200" b="1" dirty="0">
                <a:latin typeface="Times New Roman" panose="02020603050405020304" pitchFamily="18" charset="0"/>
                <a:cs typeface="Times New Roman" panose="02020603050405020304" pitchFamily="18" charset="0"/>
              </a:rPr>
              <a:t>prone to human errors</a:t>
            </a:r>
            <a:r>
              <a:rPr lang="en-US" sz="2200" dirty="0">
                <a:latin typeface="Times New Roman" panose="02020603050405020304" pitchFamily="18" charset="0"/>
                <a:cs typeface="Times New Roman" panose="02020603050405020304" pitchFamily="18" charset="0"/>
              </a:rPr>
              <a:t>, such as typing mistakes and incorrect calculations. </a:t>
            </a:r>
          </a:p>
          <a:p>
            <a:r>
              <a:rPr lang="en-US" sz="2200" dirty="0">
                <a:latin typeface="Times New Roman" panose="02020603050405020304" pitchFamily="18" charset="0"/>
                <a:cs typeface="Times New Roman" panose="02020603050405020304" pitchFamily="18" charset="0"/>
              </a:rPr>
              <a:t>It is </a:t>
            </a:r>
            <a:r>
              <a:rPr lang="en-US" sz="2200" b="1" dirty="0">
                <a:latin typeface="Times New Roman" panose="02020603050405020304" pitchFamily="18" charset="0"/>
                <a:cs typeface="Times New Roman" panose="02020603050405020304" pitchFamily="18" charset="0"/>
              </a:rPr>
              <a:t>vulnerable to duplicate payment fraud</a:t>
            </a:r>
            <a:r>
              <a:rPr lang="en-US" sz="2200" dirty="0">
                <a:latin typeface="Times New Roman" panose="02020603050405020304" pitchFamily="18" charset="0"/>
                <a:cs typeface="Times New Roman" panose="02020603050405020304" pitchFamily="18" charset="0"/>
              </a:rPr>
              <a:t>, where the same invoice may be paid more than once. </a:t>
            </a:r>
          </a:p>
          <a:p>
            <a:r>
              <a:rPr lang="en-US" sz="2200" dirty="0">
                <a:latin typeface="Times New Roman" panose="02020603050405020304" pitchFamily="18" charset="0"/>
                <a:cs typeface="Times New Roman" panose="02020603050405020304" pitchFamily="18" charset="0"/>
              </a:rPr>
              <a:t>It involves </a:t>
            </a:r>
            <a:r>
              <a:rPr lang="en-US" sz="2200" b="1" dirty="0">
                <a:latin typeface="Times New Roman" panose="02020603050405020304" pitchFamily="18" charset="0"/>
                <a:cs typeface="Times New Roman" panose="02020603050405020304" pitchFamily="18" charset="0"/>
              </a:rPr>
              <a:t>time-consuming dispute resolution</a:t>
            </a:r>
            <a:r>
              <a:rPr lang="en-US" sz="2200" dirty="0">
                <a:latin typeface="Times New Roman" panose="02020603050405020304" pitchFamily="18" charset="0"/>
                <a:cs typeface="Times New Roman" panose="02020603050405020304" pitchFamily="18" charset="0"/>
              </a:rPr>
              <a:t>, requiring manual communication with vendors. </a:t>
            </a:r>
          </a:p>
          <a:p>
            <a:r>
              <a:rPr lang="en-US" sz="2200" dirty="0">
                <a:latin typeface="Times New Roman" panose="02020603050405020304" pitchFamily="18" charset="0"/>
                <a:cs typeface="Times New Roman" panose="02020603050405020304" pitchFamily="18" charset="0"/>
              </a:rPr>
              <a:t>Because of these issues, companies face financial losses, reduced efficiency, and unnecessary workload. Therefore, there is a strong need for an intelligent and automated system to improve accuracy, speed, and security</a:t>
            </a:r>
          </a:p>
          <a:p>
            <a:endParaRPr lang="en-IN" dirty="0"/>
          </a:p>
        </p:txBody>
      </p:sp>
    </p:spTree>
    <p:extLst>
      <p:ext uri="{BB962C8B-B14F-4D97-AF65-F5344CB8AC3E}">
        <p14:creationId xmlns:p14="http://schemas.microsoft.com/office/powerpoint/2010/main" val="55664562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0968F8-049F-186F-E97E-281E19F454E0}"/>
              </a:ext>
            </a:extLst>
          </p:cNvPr>
          <p:cNvSpPr>
            <a:spLocks noGrp="1"/>
          </p:cNvSpPr>
          <p:nvPr>
            <p:ph type="title"/>
          </p:nvPr>
        </p:nvSpPr>
        <p:spPr>
          <a:xfrm>
            <a:off x="677334" y="1041114"/>
            <a:ext cx="8596668" cy="1320800"/>
          </a:xfrm>
        </p:spPr>
        <p:txBody>
          <a:bodyPr/>
          <a:lstStyle/>
          <a:p>
            <a:r>
              <a:rPr lang="en-US" b="1" dirty="0"/>
              <a:t>The Problem (Existing System)</a:t>
            </a:r>
            <a:br>
              <a:rPr lang="en-US" b="1" dirty="0"/>
            </a:br>
            <a:endParaRPr lang="en-IN" dirty="0"/>
          </a:p>
        </p:txBody>
      </p:sp>
      <p:sp>
        <p:nvSpPr>
          <p:cNvPr id="3" name="Content Placeholder 2">
            <a:extLst>
              <a:ext uri="{FF2B5EF4-FFF2-40B4-BE49-F238E27FC236}">
                <a16:creationId xmlns:a16="http://schemas.microsoft.com/office/drawing/2014/main" id="{0F575E38-E3D5-DEC0-6597-115B1CFFF79A}"/>
              </a:ext>
            </a:extLst>
          </p:cNvPr>
          <p:cNvSpPr>
            <a:spLocks noGrp="1"/>
          </p:cNvSpPr>
          <p:nvPr>
            <p:ph idx="1"/>
          </p:nvPr>
        </p:nvSpPr>
        <p:spPr/>
        <p:txBody>
          <a:bodyPr>
            <a:normAutofit lnSpcReduction="10000"/>
          </a:bodyPr>
          <a:lstStyle/>
          <a:p>
            <a:r>
              <a:rPr lang="en-US" sz="2400" dirty="0">
                <a:latin typeface="Times New Roman" panose="02020603050405020304" pitchFamily="18" charset="0"/>
                <a:cs typeface="Times New Roman" panose="02020603050405020304" pitchFamily="18" charset="0"/>
              </a:rPr>
              <a:t>The current Accounts Payable system faces serious challenges due to its dependence on manual processes. </a:t>
            </a:r>
          </a:p>
          <a:p>
            <a:r>
              <a:rPr lang="en-US" sz="2400" dirty="0">
                <a:latin typeface="Times New Roman" panose="02020603050405020304" pitchFamily="18" charset="0"/>
                <a:cs typeface="Times New Roman" panose="02020603050405020304" pitchFamily="18" charset="0"/>
              </a:rPr>
              <a:t>Employees spend a significant amount of time entering invoice details manually, which slows down operations and increases fatigue. As a result, human errors such as incorrect data entry and miscalculations are very common. Additionally, the system lacks proper mechanisms to detect duplicate invoices, making it vulnerable to fraud and repeated payments. Resolving disputes with vendors also takes a long time, as it requires manual checking and communication. Overall, this outdated system reduces efficiency and increases financial risk for organizations.</a:t>
            </a:r>
          </a:p>
          <a:p>
            <a:endParaRPr lang="en-IN" dirty="0"/>
          </a:p>
        </p:txBody>
      </p:sp>
    </p:spTree>
    <p:extLst>
      <p:ext uri="{BB962C8B-B14F-4D97-AF65-F5344CB8AC3E}">
        <p14:creationId xmlns:p14="http://schemas.microsoft.com/office/powerpoint/2010/main" val="265210027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9C2949-1501-7E9F-A6A3-94E17BD22A9E}"/>
              </a:ext>
            </a:extLst>
          </p:cNvPr>
          <p:cNvSpPr>
            <a:spLocks noGrp="1"/>
          </p:cNvSpPr>
          <p:nvPr>
            <p:ph type="title"/>
          </p:nvPr>
        </p:nvSpPr>
        <p:spPr>
          <a:xfrm>
            <a:off x="780076" y="1113034"/>
            <a:ext cx="8596668" cy="1320800"/>
          </a:xfrm>
        </p:spPr>
        <p:txBody>
          <a:bodyPr/>
          <a:lstStyle/>
          <a:p>
            <a:r>
              <a:rPr lang="en-IN" dirty="0"/>
              <a:t>The Proposed Solution</a:t>
            </a:r>
          </a:p>
        </p:txBody>
      </p:sp>
      <p:sp>
        <p:nvSpPr>
          <p:cNvPr id="3" name="Content Placeholder 2">
            <a:extLst>
              <a:ext uri="{FF2B5EF4-FFF2-40B4-BE49-F238E27FC236}">
                <a16:creationId xmlns:a16="http://schemas.microsoft.com/office/drawing/2014/main" id="{CDA0A3BC-20CC-444E-AFA7-E96F6EB6D0D2}"/>
              </a:ext>
            </a:extLst>
          </p:cNvPr>
          <p:cNvSpPr>
            <a:spLocks noGrp="1"/>
          </p:cNvSpPr>
          <p:nvPr>
            <p:ph idx="1"/>
          </p:nvPr>
        </p:nvSpPr>
        <p:spPr/>
        <p:txBody>
          <a:bodyPr/>
          <a:lstStyle/>
          <a:p>
            <a:pPr algn="just"/>
            <a:r>
              <a:rPr lang="en-US" sz="2400" dirty="0">
                <a:latin typeface="Times New Roman" panose="02020603050405020304" pitchFamily="18" charset="0"/>
                <a:cs typeface="Times New Roman" panose="02020603050405020304" pitchFamily="18" charset="0"/>
              </a:rPr>
              <a:t>To overcome these challenges, the proposed system introduces a smart and automated solution for handling financial operations. </a:t>
            </a:r>
          </a:p>
          <a:p>
            <a:pPr algn="just"/>
            <a:r>
              <a:rPr lang="en-US" sz="2400" dirty="0">
                <a:latin typeface="Times New Roman" panose="02020603050405020304" pitchFamily="18" charset="0"/>
                <a:cs typeface="Times New Roman" panose="02020603050405020304" pitchFamily="18" charset="0"/>
              </a:rPr>
              <a:t>It provides a simple and user-friendly interface where users can easily upload invoices without any training. The system uses MD5 hashing to identify and block duplicate invoices instantly. With the help of advanced AI technology, it can automatically read and extract data from invoices, even if they are unstructured. Additionally, it includes an automated auditing system that verifies calculations and ensures compliance with company policies, reducing errors and improving accuracy.</a:t>
            </a:r>
          </a:p>
          <a:p>
            <a:pPr marL="0" indent="0">
              <a:buNone/>
            </a:pPr>
            <a:endParaRPr lang="en-IN" dirty="0"/>
          </a:p>
        </p:txBody>
      </p:sp>
    </p:spTree>
    <p:extLst>
      <p:ext uri="{BB962C8B-B14F-4D97-AF65-F5344CB8AC3E}">
        <p14:creationId xmlns:p14="http://schemas.microsoft.com/office/powerpoint/2010/main" val="126451557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B8BB23-F35C-22CF-5940-94CFEA9F5843}"/>
              </a:ext>
            </a:extLst>
          </p:cNvPr>
          <p:cNvSpPr>
            <a:spLocks noGrp="1"/>
          </p:cNvSpPr>
          <p:nvPr>
            <p:ph type="title"/>
          </p:nvPr>
        </p:nvSpPr>
        <p:spPr>
          <a:xfrm>
            <a:off x="667060" y="1020566"/>
            <a:ext cx="8596668" cy="1320800"/>
          </a:xfrm>
        </p:spPr>
        <p:txBody>
          <a:bodyPr/>
          <a:lstStyle/>
          <a:p>
            <a:r>
              <a:rPr lang="en-IN" dirty="0"/>
              <a:t>Technology Stack</a:t>
            </a:r>
          </a:p>
        </p:txBody>
      </p:sp>
      <p:sp>
        <p:nvSpPr>
          <p:cNvPr id="3" name="Content Placeholder 2">
            <a:extLst>
              <a:ext uri="{FF2B5EF4-FFF2-40B4-BE49-F238E27FC236}">
                <a16:creationId xmlns:a16="http://schemas.microsoft.com/office/drawing/2014/main" id="{1A157BDB-D907-5292-0F9F-CCE7D65ECCC0}"/>
              </a:ext>
            </a:extLst>
          </p:cNvPr>
          <p:cNvSpPr>
            <a:spLocks noGrp="1"/>
          </p:cNvSpPr>
          <p:nvPr>
            <p:ph idx="1"/>
          </p:nvPr>
        </p:nvSpPr>
        <p:spPr>
          <a:xfrm>
            <a:off x="410205" y="2181137"/>
            <a:ext cx="8596668" cy="3880773"/>
          </a:xfrm>
        </p:spPr>
        <p:txBody>
          <a:bodyPr>
            <a:normAutofit/>
          </a:bodyPr>
          <a:lstStyle/>
          <a:p>
            <a:pPr algn="just"/>
            <a:r>
              <a:rPr lang="en-US" sz="2400" dirty="0">
                <a:latin typeface="Times New Roman" panose="02020603050405020304" pitchFamily="18" charset="0"/>
                <a:cs typeface="Times New Roman" panose="02020603050405020304" pitchFamily="18" charset="0"/>
              </a:rPr>
              <a:t>The system is built using modern and efficient technologies. The frontend is developed using </a:t>
            </a:r>
            <a:r>
              <a:rPr lang="en-US" sz="2400" dirty="0" err="1">
                <a:latin typeface="Times New Roman" panose="02020603050405020304" pitchFamily="18" charset="0"/>
                <a:cs typeface="Times New Roman" panose="02020603050405020304" pitchFamily="18" charset="0"/>
              </a:rPr>
              <a:t>Streamlit</a:t>
            </a:r>
            <a:r>
              <a:rPr lang="en-US" sz="2400" dirty="0">
                <a:latin typeface="Times New Roman" panose="02020603050405020304" pitchFamily="18" charset="0"/>
                <a:cs typeface="Times New Roman" panose="02020603050405020304" pitchFamily="18" charset="0"/>
              </a:rPr>
              <a:t>, which provides a simple and interactive user interface. The backend is powered by Python, which handles all the business logic and processing. </a:t>
            </a:r>
          </a:p>
          <a:p>
            <a:pPr algn="just"/>
            <a:r>
              <a:rPr lang="en-US" sz="2400" dirty="0">
                <a:latin typeface="Times New Roman" panose="02020603050405020304" pitchFamily="18" charset="0"/>
                <a:cs typeface="Times New Roman" panose="02020603050405020304" pitchFamily="18" charset="0"/>
              </a:rPr>
              <a:t>For AI-based data extraction, the system uses Google Gemini API. The data is stored in a MySQL database, which is properly structured for efficiency and reliability. Additional libraries such as </a:t>
            </a:r>
            <a:r>
              <a:rPr lang="en-US" sz="2400" dirty="0" err="1">
                <a:latin typeface="Times New Roman" panose="02020603050405020304" pitchFamily="18" charset="0"/>
                <a:cs typeface="Times New Roman" panose="02020603050405020304" pitchFamily="18" charset="0"/>
              </a:rPr>
              <a:t>hashlib</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smtplib</a:t>
            </a:r>
            <a:r>
              <a:rPr lang="en-US" sz="2400" dirty="0">
                <a:latin typeface="Times New Roman" panose="02020603050405020304" pitchFamily="18" charset="0"/>
                <a:cs typeface="Times New Roman" panose="02020603050405020304" pitchFamily="18" charset="0"/>
              </a:rPr>
              <a:t>, and pandas are used to handle hashing, email communication, and data processing tasks.</a:t>
            </a: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81111751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DC8A17-9A6A-F5F0-2767-647FC49C4D95}"/>
              </a:ext>
            </a:extLst>
          </p:cNvPr>
          <p:cNvSpPr>
            <a:spLocks noGrp="1"/>
          </p:cNvSpPr>
          <p:nvPr>
            <p:ph type="title"/>
          </p:nvPr>
        </p:nvSpPr>
        <p:spPr>
          <a:xfrm>
            <a:off x="677334" y="1154131"/>
            <a:ext cx="8596668" cy="1320800"/>
          </a:xfrm>
        </p:spPr>
        <p:txBody>
          <a:bodyPr/>
          <a:lstStyle/>
          <a:p>
            <a:r>
              <a:rPr lang="en-IN" dirty="0"/>
              <a:t>Limitations &amp; Future Scope</a:t>
            </a:r>
          </a:p>
        </p:txBody>
      </p:sp>
      <p:sp>
        <p:nvSpPr>
          <p:cNvPr id="3" name="Content Placeholder 2">
            <a:extLst>
              <a:ext uri="{FF2B5EF4-FFF2-40B4-BE49-F238E27FC236}">
                <a16:creationId xmlns:a16="http://schemas.microsoft.com/office/drawing/2014/main" id="{61FBCF81-152C-51D0-3DF9-AE8BAACAFE29}"/>
              </a:ext>
            </a:extLst>
          </p:cNvPr>
          <p:cNvSpPr>
            <a:spLocks noGrp="1"/>
          </p:cNvSpPr>
          <p:nvPr>
            <p:ph idx="1"/>
          </p:nvPr>
        </p:nvSpPr>
        <p:spPr/>
        <p:txBody>
          <a:bodyPr>
            <a:normAutofit/>
          </a:bodyPr>
          <a:lstStyle/>
          <a:p>
            <a:pPr algn="just"/>
            <a:r>
              <a:rPr lang="en-US" sz="2400" dirty="0">
                <a:latin typeface="Times New Roman" panose="02020603050405020304" pitchFamily="18" charset="0"/>
                <a:cs typeface="Times New Roman" panose="02020603050405020304" pitchFamily="18" charset="0"/>
              </a:rPr>
              <a:t>Although the system offers many advantages, it also has some limitations. It requires an internet connection to use cloud-based AI services, and its performance depends on the quality of uploaded files. In the future, the system can be enhanced by integrating it with banking and payment gateways to enable direct payments. Machine learning models can also be added for financial forecasting and budgeting. Additionally, a mobile application can be developed to allow users to scan and upload receipts easily from their smartphones</a:t>
            </a: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66975221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744EB4-CE7E-9DA1-A5AC-103DA940B745}"/>
              </a:ext>
            </a:extLst>
          </p:cNvPr>
          <p:cNvSpPr>
            <a:spLocks noGrp="1"/>
          </p:cNvSpPr>
          <p:nvPr>
            <p:ph type="title"/>
          </p:nvPr>
        </p:nvSpPr>
        <p:spPr>
          <a:xfrm>
            <a:off x="862269" y="979469"/>
            <a:ext cx="8596668" cy="1320800"/>
          </a:xfrm>
        </p:spPr>
        <p:txBody>
          <a:bodyPr/>
          <a:lstStyle/>
          <a:p>
            <a:r>
              <a:rPr lang="en-IN" dirty="0"/>
              <a:t>Conclusion</a:t>
            </a:r>
          </a:p>
        </p:txBody>
      </p:sp>
      <p:sp>
        <p:nvSpPr>
          <p:cNvPr id="3" name="Content Placeholder 2">
            <a:extLst>
              <a:ext uri="{FF2B5EF4-FFF2-40B4-BE49-F238E27FC236}">
                <a16:creationId xmlns:a16="http://schemas.microsoft.com/office/drawing/2014/main" id="{CE1E7549-DB39-E70E-AB00-6FBB7758C24E}"/>
              </a:ext>
            </a:extLst>
          </p:cNvPr>
          <p:cNvSpPr>
            <a:spLocks noGrp="1"/>
          </p:cNvSpPr>
          <p:nvPr>
            <p:ph idx="1"/>
          </p:nvPr>
        </p:nvSpPr>
        <p:spPr/>
        <p:txBody>
          <a:bodyPr>
            <a:normAutofit/>
          </a:bodyPr>
          <a:lstStyle/>
          <a:p>
            <a:pPr algn="just"/>
            <a:r>
              <a:rPr lang="en-US" sz="2400" dirty="0">
                <a:latin typeface="Times New Roman" panose="02020603050405020304" pitchFamily="18" charset="0"/>
                <a:cs typeface="Times New Roman" panose="02020603050405020304" pitchFamily="18" charset="0"/>
              </a:rPr>
              <a:t>In conclusion, the proposed system provides an efficient and intelligent solution to modernize financial operations. It eliminates the need for manual data entry, reduces errors, and prevents duplicate payment fraud. By automating repetitive tasks, it allows employees to focus on more important and strategic work. The system not only improves accuracy and speed but also enhances overall productivity and security in financial processes.</a:t>
            </a: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87877513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AB1D4D-3B7F-9912-8AA9-9F04E2F60FF8}"/>
              </a:ext>
            </a:extLst>
          </p:cNvPr>
          <p:cNvSpPr>
            <a:spLocks noGrp="1"/>
          </p:cNvSpPr>
          <p:nvPr>
            <p:ph type="title"/>
          </p:nvPr>
        </p:nvSpPr>
        <p:spPr>
          <a:xfrm>
            <a:off x="1139671" y="2454667"/>
            <a:ext cx="8596668" cy="1948666"/>
          </a:xfrm>
        </p:spPr>
        <p:txBody>
          <a:bodyPr>
            <a:normAutofit/>
          </a:bodyPr>
          <a:lstStyle/>
          <a:p>
            <a:r>
              <a:rPr lang="en-US" sz="8800" dirty="0">
                <a:latin typeface="Times New Roman" panose="02020603050405020304" pitchFamily="18" charset="0"/>
                <a:cs typeface="Times New Roman" panose="02020603050405020304" pitchFamily="18" charset="0"/>
              </a:rPr>
              <a:t>THANK YOU </a:t>
            </a:r>
            <a:endParaRPr lang="en-IN" sz="8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071362746"/>
      </p:ext>
    </p:extLst>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docProps/app.xml><?xml version="1.0" encoding="utf-8"?>
<Properties xmlns="http://schemas.openxmlformats.org/officeDocument/2006/extended-properties" xmlns:vt="http://schemas.openxmlformats.org/officeDocument/2006/docPropsVTypes">
  <Template>Facet</Template>
  <TotalTime>22</TotalTime>
  <Words>647</Words>
  <Application>Microsoft Office PowerPoint</Application>
  <PresentationFormat>Widescreen</PresentationFormat>
  <Paragraphs>25</Paragraphs>
  <Slides>8</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8</vt:i4>
      </vt:variant>
    </vt:vector>
  </HeadingPairs>
  <TitlesOfParts>
    <vt:vector size="13" baseType="lpstr">
      <vt:lpstr>Arial</vt:lpstr>
      <vt:lpstr>Times New Roman</vt:lpstr>
      <vt:lpstr>Trebuchet MS</vt:lpstr>
      <vt:lpstr>Wingdings 3</vt:lpstr>
      <vt:lpstr>Facet</vt:lpstr>
      <vt:lpstr>FINOPS –“Automated Intelligent Document Processing system for Financial operation(Amount Payable)”</vt:lpstr>
      <vt:lpstr>INTRODUCTION</vt:lpstr>
      <vt:lpstr>The Problem (Existing System) </vt:lpstr>
      <vt:lpstr>The Proposed Solution</vt:lpstr>
      <vt:lpstr>Technology Stack</vt:lpstr>
      <vt:lpstr>Limitations &amp; Future Scope</vt:lpstr>
      <vt:lpstr>Conclusion</vt:lpstr>
      <vt:lpstr>THANK YOU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yeman rana</dc:creator>
  <cp:lastModifiedBy>yeman rana</cp:lastModifiedBy>
  <cp:revision>1</cp:revision>
  <dcterms:created xsi:type="dcterms:W3CDTF">2026-03-28T05:00:12Z</dcterms:created>
  <dcterms:modified xsi:type="dcterms:W3CDTF">2026-03-28T05:23:02Z</dcterms:modified>
</cp:coreProperties>
</file>